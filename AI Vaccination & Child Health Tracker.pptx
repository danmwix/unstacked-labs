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60" r:id="rId4"/>
    <p:sldId id="261" r:id="rId5"/>
    <p:sldId id="262" r:id="rId6"/>
    <p:sldId id="2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01AB21-5DD0-4A3E-B8C8-A733E78C5F9E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95E22C-7EC2-4910-8F0C-53C4CA366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34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MMS</a:t>
            </a:r>
            <a:r>
              <a:rPr lang="en-US" baseline="0" dirty="0" smtClean="0"/>
              <a:t> is developed to address key challenges faced by maternity wards in public hospitals such as: delay in accessing critical maternal health information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ACEA8-9412-4EB0-9C2F-5F133E268A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35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Many maternity wards still rely on paper records, leading to delay in patient care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ACEA8-9412-4EB0-9C2F-5F133E268A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99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Many maternity wards still rely on paper records, leading to delay in patient care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ACEA8-9412-4EB0-9C2F-5F133E268A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99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C5A7-DCCB-4691-B85E-8BDA9B5211D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D09CA-472A-4C0C-8B6A-A8D8B6A95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510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C5A7-DCCB-4691-B85E-8BDA9B5211D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D09CA-472A-4C0C-8B6A-A8D8B6A95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4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C5A7-DCCB-4691-B85E-8BDA9B5211D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D09CA-472A-4C0C-8B6A-A8D8B6A95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68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C5A7-DCCB-4691-B85E-8BDA9B5211D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D09CA-472A-4C0C-8B6A-A8D8B6A95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72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C5A7-DCCB-4691-B85E-8BDA9B5211D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D09CA-472A-4C0C-8B6A-A8D8B6A95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754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C5A7-DCCB-4691-B85E-8BDA9B5211D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D09CA-472A-4C0C-8B6A-A8D8B6A95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50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C5A7-DCCB-4691-B85E-8BDA9B5211D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D09CA-472A-4C0C-8B6A-A8D8B6A95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296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C5A7-DCCB-4691-B85E-8BDA9B5211D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D09CA-472A-4C0C-8B6A-A8D8B6A95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213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C5A7-DCCB-4691-B85E-8BDA9B5211D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D09CA-472A-4C0C-8B6A-A8D8B6A95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13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C5A7-DCCB-4691-B85E-8BDA9B5211D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D09CA-472A-4C0C-8B6A-A8D8B6A95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61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C5A7-DCCB-4691-B85E-8BDA9B5211D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D09CA-472A-4C0C-8B6A-A8D8B6A95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90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6C5A7-DCCB-4691-B85E-8BDA9B5211D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D09CA-472A-4C0C-8B6A-A8D8B6A95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003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svg"/><Relationship Id="rId4" Type="http://schemas.openxmlformats.org/officeDocument/2006/relationships/image" Target="../media/image2.png"/><Relationship Id="rId9" Type="http://schemas.openxmlformats.org/officeDocument/2006/relationships/image" Target="../media/image10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42841" y="4451669"/>
            <a:ext cx="4068739" cy="27432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8123261" y="-685800"/>
            <a:ext cx="4068739" cy="27432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61115" y="0"/>
            <a:ext cx="4876800" cy="2136503"/>
          </a:xfrm>
          <a:custGeom>
            <a:avLst/>
            <a:gdLst/>
            <a:ahLst/>
            <a:cxnLst/>
            <a:rect l="l" t="t" r="r" b="b"/>
            <a:pathLst>
              <a:path w="7315200" h="3204754">
                <a:moveTo>
                  <a:pt x="7315200" y="0"/>
                </a:moveTo>
                <a:lnTo>
                  <a:pt x="0" y="0"/>
                </a:lnTo>
                <a:lnTo>
                  <a:pt x="0" y="3204754"/>
                </a:lnTo>
                <a:lnTo>
                  <a:pt x="7315200" y="320475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342286" y="4627614"/>
            <a:ext cx="5507429" cy="1423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5"/>
              </a:lnSpc>
              <a:spcBef>
                <a:spcPct val="0"/>
              </a:spcBef>
            </a:pPr>
            <a:r>
              <a:rPr lang="en-US" sz="3600" spc="73" dirty="0">
                <a:solidFill>
                  <a:srgbClr val="3F3E3A"/>
                </a:solidFill>
                <a:latin typeface="Abstracted Dream"/>
                <a:ea typeface="Abstracted Dream"/>
                <a:cs typeface="Abstracted Dream"/>
                <a:sym typeface="Abstracted Dream"/>
              </a:rPr>
              <a:t>Presented by: </a:t>
            </a:r>
            <a:r>
              <a:rPr lang="en-US" sz="3600" spc="73" dirty="0" err="1">
                <a:solidFill>
                  <a:srgbClr val="3F3E3A"/>
                </a:solidFill>
                <a:latin typeface="Abstracted Dream"/>
                <a:ea typeface="Abstracted Dream"/>
                <a:cs typeface="Abstracted Dream"/>
                <a:sym typeface="Abstracted Dream"/>
              </a:rPr>
              <a:t>Mwanzia</a:t>
            </a:r>
            <a:r>
              <a:rPr lang="en-US" sz="3600" spc="73" dirty="0">
                <a:solidFill>
                  <a:srgbClr val="3F3E3A"/>
                </a:solidFill>
                <a:latin typeface="Abstracted Dream"/>
                <a:ea typeface="Abstracted Dream"/>
                <a:cs typeface="Abstracted Dream"/>
                <a:sym typeface="Abstracted Dream"/>
              </a:rPr>
              <a:t> </a:t>
            </a:r>
            <a:r>
              <a:rPr lang="en-US" sz="3600" spc="73" dirty="0" smtClean="0">
                <a:solidFill>
                  <a:srgbClr val="3F3E3A"/>
                </a:solidFill>
                <a:latin typeface="Abstracted Dream"/>
                <a:ea typeface="Abstracted Dream"/>
                <a:cs typeface="Abstracted Dream"/>
                <a:sym typeface="Abstracted Dream"/>
              </a:rPr>
              <a:t>Daniel</a:t>
            </a:r>
          </a:p>
          <a:p>
            <a:pPr algn="ctr">
              <a:lnSpc>
                <a:spcPts val="3655"/>
              </a:lnSpc>
              <a:spcBef>
                <a:spcPct val="0"/>
              </a:spcBef>
            </a:pPr>
            <a:r>
              <a:rPr lang="en-US" sz="3600" spc="73" dirty="0" smtClean="0">
                <a:solidFill>
                  <a:srgbClr val="3F3E3A"/>
                </a:solidFill>
                <a:latin typeface="Abstracted Dream"/>
                <a:ea typeface="Abstracted Dream"/>
                <a:cs typeface="Abstracted Dream"/>
                <a:sym typeface="Abstracted Dream"/>
              </a:rPr>
              <a:t> </a:t>
            </a:r>
            <a:endParaRPr lang="en-US" sz="3600" spc="73" dirty="0">
              <a:solidFill>
                <a:srgbClr val="3F3E3A"/>
              </a:solidFill>
              <a:latin typeface="Abstracted Dream"/>
              <a:ea typeface="Abstracted Dream"/>
              <a:cs typeface="Abstracted Dream"/>
              <a:sym typeface="Abstracted Dream"/>
            </a:endParaRPr>
          </a:p>
        </p:txBody>
      </p:sp>
      <p:sp>
        <p:nvSpPr>
          <p:cNvPr id="6" name="Freeform 6"/>
          <p:cNvSpPr/>
          <p:nvPr/>
        </p:nvSpPr>
        <p:spPr>
          <a:xfrm flipV="1">
            <a:off x="7719231" y="4801060"/>
            <a:ext cx="4876800" cy="2136503"/>
          </a:xfrm>
          <a:custGeom>
            <a:avLst/>
            <a:gdLst/>
            <a:ahLst/>
            <a:cxnLst/>
            <a:rect l="l" t="t" r="r" b="b"/>
            <a:pathLst>
              <a:path w="7315200" h="3204754">
                <a:moveTo>
                  <a:pt x="0" y="3204754"/>
                </a:moveTo>
                <a:lnTo>
                  <a:pt x="7315200" y="3204754"/>
                </a:lnTo>
                <a:lnTo>
                  <a:pt x="7315200" y="0"/>
                </a:lnTo>
                <a:lnTo>
                  <a:pt x="0" y="0"/>
                </a:lnTo>
                <a:lnTo>
                  <a:pt x="0" y="320475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503216" y="-303349"/>
            <a:ext cx="3360267" cy="27432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81737" y="4029075"/>
            <a:ext cx="1579883" cy="1533923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91530" y="3225340"/>
            <a:ext cx="9759949" cy="1337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79"/>
              </a:lnSpc>
              <a:spcBef>
                <a:spcPct val="0"/>
              </a:spcBef>
            </a:pPr>
            <a:endParaRPr lang="en-US" sz="9232" spc="92" dirty="0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227134" y="-262499"/>
            <a:ext cx="7485059" cy="511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40"/>
              </a:lnSpc>
              <a:spcBef>
                <a:spcPct val="0"/>
              </a:spcBef>
            </a:pPr>
            <a:r>
              <a:rPr lang="en-US" sz="4800" spc="333" dirty="0" smtClean="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AI VACCINATION &amp; CHILD HEALTH TRACKER</a:t>
            </a:r>
            <a:endParaRPr lang="en-US" sz="4800" spc="333" dirty="0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186462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0006070" y="2927006"/>
            <a:ext cx="3000260" cy="2996510"/>
          </a:xfrm>
          <a:custGeom>
            <a:avLst/>
            <a:gdLst/>
            <a:ahLst/>
            <a:cxnLst/>
            <a:rect l="l" t="t" r="r" b="b"/>
            <a:pathLst>
              <a:path w="4500390" h="4494765">
                <a:moveTo>
                  <a:pt x="0" y="0"/>
                </a:moveTo>
                <a:lnTo>
                  <a:pt x="4500390" y="0"/>
                </a:lnTo>
                <a:lnTo>
                  <a:pt x="4500390" y="4494764"/>
                </a:lnTo>
                <a:lnTo>
                  <a:pt x="0" y="4494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-506832" y="5584712"/>
            <a:ext cx="2126302" cy="2126302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574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080"/>
                </a:lnSpc>
              </a:pPr>
              <a:endParaRPr sz="120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08003" y="400634"/>
            <a:ext cx="822334" cy="82233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5740">
                <a:alpha val="27843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080"/>
                </a:lnSpc>
              </a:pPr>
              <a:endParaRPr sz="120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447646" y="6446834"/>
            <a:ext cx="822334" cy="82233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5740">
                <a:alpha val="27843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080"/>
                </a:lnSpc>
              </a:pPr>
              <a:endParaRPr sz="1200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85801" y="2927006"/>
            <a:ext cx="5819923" cy="3529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dirty="0" err="1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dirty="0" err="1" smtClean="0"/>
              <a:t>Childhood</a:t>
            </a:r>
            <a:r>
              <a:rPr lang="en-US" dirty="0" smtClean="0"/>
              <a:t> </a:t>
            </a:r>
            <a:r>
              <a:rPr lang="en-US" dirty="0"/>
              <a:t>immunization is essential to preventing life-threatening diseases.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Many Kenyan parents struggle to keep track of vaccination dates.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Manual </a:t>
            </a:r>
            <a:r>
              <a:rPr lang="en-US" dirty="0" err="1"/>
              <a:t>MoH</a:t>
            </a:r>
            <a:r>
              <a:rPr lang="en-US" dirty="0"/>
              <a:t> booklets are often misplaced or forgotten.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Missed vaccines increase preventable illness cases.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There is a need for a digital system that automates vaccine tracking and guidance</a:t>
            </a:r>
          </a:p>
          <a:p>
            <a:pPr lvl="0"/>
            <a:endParaRPr lang="en-US" sz="1333" dirty="0" smtClean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85800" y="685800"/>
            <a:ext cx="4960359" cy="202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854"/>
              </a:lnSpc>
            </a:pPr>
            <a:r>
              <a:rPr lang="en-US" sz="7854" b="1" spc="-408" dirty="0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Project </a:t>
            </a:r>
            <a:r>
              <a:rPr lang="en-US" sz="7854" b="1" spc="-408" dirty="0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7568" y="564459"/>
            <a:ext cx="47720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383" y="685800"/>
            <a:ext cx="4470400" cy="552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57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21965" y="5791045"/>
            <a:ext cx="3882071" cy="674510"/>
          </a:xfrm>
          <a:custGeom>
            <a:avLst/>
            <a:gdLst/>
            <a:ahLst/>
            <a:cxnLst/>
            <a:rect l="l" t="t" r="r" b="b"/>
            <a:pathLst>
              <a:path w="5823107" h="1011765">
                <a:moveTo>
                  <a:pt x="0" y="0"/>
                </a:moveTo>
                <a:lnTo>
                  <a:pt x="5823106" y="0"/>
                </a:lnTo>
                <a:lnTo>
                  <a:pt x="5823106" y="1011765"/>
                </a:lnTo>
                <a:lnTo>
                  <a:pt x="0" y="1011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096000" y="4840473"/>
            <a:ext cx="822334" cy="82233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5740">
                <a:alpha val="27843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080"/>
                </a:lnSpc>
              </a:pPr>
              <a:endParaRPr sz="1200"/>
            </a:p>
          </p:txBody>
        </p:sp>
      </p:grpSp>
      <p:sp>
        <p:nvSpPr>
          <p:cNvPr id="6" name="Freeform 6"/>
          <p:cNvSpPr/>
          <p:nvPr/>
        </p:nvSpPr>
        <p:spPr>
          <a:xfrm>
            <a:off x="685800" y="3666202"/>
            <a:ext cx="4255004" cy="4249685"/>
          </a:xfrm>
          <a:custGeom>
            <a:avLst/>
            <a:gdLst/>
            <a:ahLst/>
            <a:cxnLst/>
            <a:rect l="l" t="t" r="r" b="b"/>
            <a:pathLst>
              <a:path w="6382506" h="6374528">
                <a:moveTo>
                  <a:pt x="0" y="0"/>
                </a:moveTo>
                <a:lnTo>
                  <a:pt x="6382506" y="0"/>
                </a:lnTo>
                <a:lnTo>
                  <a:pt x="6382506" y="6374528"/>
                </a:lnTo>
                <a:lnTo>
                  <a:pt x="0" y="6374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814621" y="3999165"/>
            <a:ext cx="3997363" cy="3997363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solidFill>
              <a:srgbClr val="7C574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284320" y="415956"/>
              <a:ext cx="5781360" cy="5518089"/>
            </a:xfrm>
            <a:custGeom>
              <a:avLst/>
              <a:gdLst/>
              <a:ahLst/>
              <a:cxnLst/>
              <a:rect l="l" t="t" r="r" b="b"/>
              <a:pathLst>
                <a:path w="5781360" h="5518089">
                  <a:moveTo>
                    <a:pt x="2890680" y="4414"/>
                  </a:moveTo>
                  <a:cubicBezTo>
                    <a:pt x="1903611" y="0"/>
                    <a:pt x="989627" y="524062"/>
                    <a:pt x="494813" y="1378160"/>
                  </a:cubicBezTo>
                  <a:cubicBezTo>
                    <a:pt x="0" y="2232259"/>
                    <a:pt x="0" y="3285829"/>
                    <a:pt x="494813" y="4139928"/>
                  </a:cubicBezTo>
                  <a:cubicBezTo>
                    <a:pt x="989627" y="4994026"/>
                    <a:pt x="1903611" y="5518088"/>
                    <a:pt x="2890680" y="5513674"/>
                  </a:cubicBezTo>
                  <a:cubicBezTo>
                    <a:pt x="3877749" y="5518088"/>
                    <a:pt x="4791733" y="4994026"/>
                    <a:pt x="5286547" y="4139928"/>
                  </a:cubicBezTo>
                  <a:cubicBezTo>
                    <a:pt x="5781360" y="3285829"/>
                    <a:pt x="5781360" y="2232259"/>
                    <a:pt x="5286547" y="1378161"/>
                  </a:cubicBezTo>
                  <a:cubicBezTo>
                    <a:pt x="4791733" y="524062"/>
                    <a:pt x="3877749" y="0"/>
                    <a:pt x="2890680" y="441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2658662" y="648926"/>
            <a:ext cx="1993665" cy="906189"/>
            <a:chOff x="-1051604" y="42863"/>
            <a:chExt cx="1788204" cy="812800"/>
          </a:xfrm>
        </p:grpSpPr>
        <p:sp>
          <p:nvSpPr>
            <p:cNvPr id="11" name="Freeform 11"/>
            <p:cNvSpPr/>
            <p:nvPr/>
          </p:nvSpPr>
          <p:spPr>
            <a:xfrm>
              <a:off x="-1051604" y="42863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5740">
                <a:alpha val="27843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080"/>
                </a:lnSpc>
              </a:pPr>
              <a:endParaRPr sz="120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329950" y="-329950"/>
            <a:ext cx="1015750" cy="101575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574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080"/>
                </a:lnSpc>
              </a:pPr>
              <a:endParaRPr sz="120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331847" y="5997847"/>
            <a:ext cx="1190104" cy="119010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574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080"/>
                </a:lnSpc>
              </a:pPr>
              <a:endParaRPr sz="1200"/>
            </a:p>
          </p:txBody>
        </p:sp>
      </p:grpSp>
      <p:sp>
        <p:nvSpPr>
          <p:cNvPr id="21" name="Rectangle 20"/>
          <p:cNvSpPr/>
          <p:nvPr/>
        </p:nvSpPr>
        <p:spPr>
          <a:xfrm>
            <a:off x="1828800" y="889000"/>
            <a:ext cx="8432800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  <a:ea typeface="Lato"/>
                <a:cs typeface="Lato"/>
                <a:sym typeface="Lato"/>
              </a:rPr>
              <a:t>PROBLEM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  <a:ea typeface="Lato"/>
                <a:cs typeface="Lato"/>
                <a:sym typeface="Lato"/>
              </a:rPr>
              <a:t>STATEMENT</a:t>
            </a:r>
          </a:p>
          <a:p>
            <a:r>
              <a:rPr lang="en-US" dirty="0"/>
              <a:t>Current vaccination follow-up methods have challenges:</a:t>
            </a:r>
          </a:p>
          <a:p>
            <a:r>
              <a:rPr lang="en-US" dirty="0"/>
              <a:t>No automated reminders for parents</a:t>
            </a:r>
          </a:p>
          <a:p>
            <a:r>
              <a:rPr lang="en-US" dirty="0"/>
              <a:t>Difficulty tracking multiple children</a:t>
            </a:r>
          </a:p>
          <a:p>
            <a:r>
              <a:rPr lang="en-US" dirty="0"/>
              <a:t>Inefficient paper-based vaccine cards</a:t>
            </a:r>
          </a:p>
          <a:p>
            <a:r>
              <a:rPr lang="en-US" dirty="0"/>
              <a:t>No system for quick health guidance</a:t>
            </a:r>
          </a:p>
          <a:p>
            <a:r>
              <a:rPr lang="en-US" dirty="0"/>
              <a:t>Lack of easy access for parents in low-connectivity areas</a:t>
            </a:r>
          </a:p>
          <a:p>
            <a:r>
              <a:rPr lang="en-US" dirty="0"/>
              <a:t>This leads to </a:t>
            </a:r>
            <a:r>
              <a:rPr lang="en-US" b="1" dirty="0"/>
              <a:t>missed vaccines and delayed immunization</a:t>
            </a:r>
            <a:r>
              <a:rPr lang="en-US" dirty="0"/>
              <a:t>.</a:t>
            </a:r>
          </a:p>
          <a:p>
            <a:pPr lvl="0"/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834829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676728" y="1496764"/>
            <a:ext cx="3247413" cy="2432869"/>
          </a:xfrm>
          <a:custGeom>
            <a:avLst/>
            <a:gdLst/>
            <a:ahLst/>
            <a:cxnLst/>
            <a:rect l="l" t="t" r="r" b="b"/>
            <a:pathLst>
              <a:path w="4763129" h="3368831">
                <a:moveTo>
                  <a:pt x="0" y="0"/>
                </a:moveTo>
                <a:lnTo>
                  <a:pt x="4763128" y="0"/>
                </a:lnTo>
                <a:lnTo>
                  <a:pt x="4763128" y="3368831"/>
                </a:lnTo>
                <a:lnTo>
                  <a:pt x="0" y="33688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503132" y="4393448"/>
            <a:ext cx="3339582" cy="2400575"/>
          </a:xfrm>
          <a:custGeom>
            <a:avLst/>
            <a:gdLst/>
            <a:ahLst/>
            <a:cxnLst/>
            <a:rect l="l" t="t" r="r" b="b"/>
            <a:pathLst>
              <a:path w="4763129" h="3368831">
                <a:moveTo>
                  <a:pt x="0" y="0"/>
                </a:moveTo>
                <a:lnTo>
                  <a:pt x="4763129" y="0"/>
                </a:lnTo>
                <a:lnTo>
                  <a:pt x="4763129" y="3368831"/>
                </a:lnTo>
                <a:lnTo>
                  <a:pt x="0" y="33688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-329950" y="-329950"/>
            <a:ext cx="1015750" cy="101575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574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080"/>
                </a:lnSpc>
              </a:pPr>
              <a:endParaRPr sz="12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91551" y="1752601"/>
            <a:ext cx="1994391" cy="470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GB" sz="1333" b="1" dirty="0" smtClean="0">
                <a:solidFill>
                  <a:schemeClr val="bg1"/>
                </a:solidFill>
                <a:sym typeface="Arial Bold"/>
              </a:rPr>
              <a:t>Parents register their children</a:t>
            </a:r>
            <a:endParaRPr lang="en-US" sz="1333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472773" y="4608652"/>
            <a:ext cx="1732839" cy="470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GB" sz="1333" b="1" dirty="0">
                <a:solidFill>
                  <a:schemeClr val="bg1"/>
                </a:solidFill>
                <a:sym typeface="Arial Bold"/>
              </a:rPr>
              <a:t> </a:t>
            </a:r>
            <a:r>
              <a:rPr lang="en-GB" sz="1333" b="1" dirty="0" smtClean="0">
                <a:solidFill>
                  <a:schemeClr val="bg1"/>
                </a:solidFill>
                <a:sym typeface="Arial Bold"/>
              </a:rPr>
              <a:t>Stores Child Immunization Records</a:t>
            </a:r>
            <a:endParaRPr lang="en-US" sz="1333" b="1" dirty="0">
              <a:solidFill>
                <a:schemeClr val="bg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42386" y="2467349"/>
            <a:ext cx="1557925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GB" sz="1333" b="1" dirty="0" smtClean="0">
                <a:solidFill>
                  <a:schemeClr val="bg1"/>
                </a:solidFill>
              </a:rPr>
              <a:t>Reminds parents of vaccination dates</a:t>
            </a:r>
            <a:endParaRPr lang="en-US" sz="1333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742386" y="3371850"/>
            <a:ext cx="1876475" cy="470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GB" sz="1333" b="1" dirty="0" smtClean="0">
                <a:solidFill>
                  <a:schemeClr val="bg1"/>
                </a:solidFill>
              </a:rPr>
              <a:t>AI Assistant for child guidance</a:t>
            </a:r>
            <a:endParaRPr lang="en-US" sz="1333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14621" y="739221"/>
            <a:ext cx="5076365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52"/>
              </a:lnSpc>
            </a:pPr>
            <a:r>
              <a:rPr lang="en-US" sz="4552" b="1" spc="-237" dirty="0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OBJECTIVES</a:t>
            </a:r>
            <a:endParaRPr lang="en-US" sz="4552" b="1" spc="-237" dirty="0">
              <a:solidFill>
                <a:srgbClr val="50392B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05427" y="1852681"/>
            <a:ext cx="362399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1"/>
              </a:lnSpc>
            </a:pPr>
            <a:r>
              <a:rPr lang="en-US" sz="2321" b="1" spc="-121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99635" y="4589577"/>
            <a:ext cx="362399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1"/>
              </a:lnSpc>
            </a:pPr>
            <a:r>
              <a:rPr lang="en-US" sz="2321" b="1" spc="-121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5427" y="2603250"/>
            <a:ext cx="362399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1"/>
              </a:lnSpc>
            </a:pPr>
            <a:r>
              <a:rPr lang="en-US" sz="2321" b="1" spc="-121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99635" y="5357776"/>
            <a:ext cx="362399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1"/>
              </a:lnSpc>
            </a:pPr>
            <a:r>
              <a:rPr lang="en-US" sz="2321" b="1" spc="-121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5427" y="3356837"/>
            <a:ext cx="362399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1"/>
              </a:lnSpc>
            </a:pPr>
            <a:r>
              <a:rPr lang="en-US" sz="2321" b="1" spc="-121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99635" y="6125976"/>
            <a:ext cx="362399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1"/>
              </a:lnSpc>
            </a:pPr>
            <a:r>
              <a:rPr lang="en-US" sz="2321" b="1" spc="-121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6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174188"/>
            <a:ext cx="3280516" cy="230532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0" y="216941"/>
            <a:ext cx="6248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681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21965" y="5791045"/>
            <a:ext cx="3882071" cy="674510"/>
          </a:xfrm>
          <a:custGeom>
            <a:avLst/>
            <a:gdLst/>
            <a:ahLst/>
            <a:cxnLst/>
            <a:rect l="l" t="t" r="r" b="b"/>
            <a:pathLst>
              <a:path w="5823107" h="1011765">
                <a:moveTo>
                  <a:pt x="0" y="0"/>
                </a:moveTo>
                <a:lnTo>
                  <a:pt x="5823106" y="0"/>
                </a:lnTo>
                <a:lnTo>
                  <a:pt x="5823106" y="1011765"/>
                </a:lnTo>
                <a:lnTo>
                  <a:pt x="0" y="1011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096000" y="4840473"/>
            <a:ext cx="822334" cy="82233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5740">
                <a:alpha val="27843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080"/>
                </a:lnSpc>
              </a:pPr>
              <a:endParaRPr sz="1200"/>
            </a:p>
          </p:txBody>
        </p:sp>
      </p:grpSp>
      <p:sp>
        <p:nvSpPr>
          <p:cNvPr id="6" name="Freeform 6"/>
          <p:cNvSpPr/>
          <p:nvPr/>
        </p:nvSpPr>
        <p:spPr>
          <a:xfrm>
            <a:off x="685800" y="3666202"/>
            <a:ext cx="4255004" cy="4249685"/>
          </a:xfrm>
          <a:custGeom>
            <a:avLst/>
            <a:gdLst/>
            <a:ahLst/>
            <a:cxnLst/>
            <a:rect l="l" t="t" r="r" b="b"/>
            <a:pathLst>
              <a:path w="6382506" h="6374528">
                <a:moveTo>
                  <a:pt x="0" y="0"/>
                </a:moveTo>
                <a:lnTo>
                  <a:pt x="6382506" y="0"/>
                </a:lnTo>
                <a:lnTo>
                  <a:pt x="6382506" y="6374528"/>
                </a:lnTo>
                <a:lnTo>
                  <a:pt x="0" y="6374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814621" y="3999165"/>
            <a:ext cx="3997363" cy="3997363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solidFill>
              <a:srgbClr val="7C574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284320" y="415956"/>
              <a:ext cx="5781360" cy="5518089"/>
            </a:xfrm>
            <a:custGeom>
              <a:avLst/>
              <a:gdLst/>
              <a:ahLst/>
              <a:cxnLst/>
              <a:rect l="l" t="t" r="r" b="b"/>
              <a:pathLst>
                <a:path w="5781360" h="5518089">
                  <a:moveTo>
                    <a:pt x="2890680" y="4414"/>
                  </a:moveTo>
                  <a:cubicBezTo>
                    <a:pt x="1903611" y="0"/>
                    <a:pt x="989627" y="524062"/>
                    <a:pt x="494813" y="1378160"/>
                  </a:cubicBezTo>
                  <a:cubicBezTo>
                    <a:pt x="0" y="2232259"/>
                    <a:pt x="0" y="3285829"/>
                    <a:pt x="494813" y="4139928"/>
                  </a:cubicBezTo>
                  <a:cubicBezTo>
                    <a:pt x="989627" y="4994026"/>
                    <a:pt x="1903611" y="5518088"/>
                    <a:pt x="2890680" y="5513674"/>
                  </a:cubicBezTo>
                  <a:cubicBezTo>
                    <a:pt x="3877749" y="5518088"/>
                    <a:pt x="4791733" y="4994026"/>
                    <a:pt x="5286547" y="4139928"/>
                  </a:cubicBezTo>
                  <a:cubicBezTo>
                    <a:pt x="5781360" y="3285829"/>
                    <a:pt x="5781360" y="2232259"/>
                    <a:pt x="5286547" y="1378161"/>
                  </a:cubicBezTo>
                  <a:cubicBezTo>
                    <a:pt x="4791733" y="524062"/>
                    <a:pt x="3877749" y="0"/>
                    <a:pt x="2890680" y="441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2658662" y="648926"/>
            <a:ext cx="1993665" cy="906189"/>
            <a:chOff x="-1051604" y="42863"/>
            <a:chExt cx="1788204" cy="812800"/>
          </a:xfrm>
        </p:grpSpPr>
        <p:sp>
          <p:nvSpPr>
            <p:cNvPr id="11" name="Freeform 11"/>
            <p:cNvSpPr/>
            <p:nvPr/>
          </p:nvSpPr>
          <p:spPr>
            <a:xfrm>
              <a:off x="-1051604" y="42863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5740">
                <a:alpha val="27843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080"/>
                </a:lnSpc>
              </a:pPr>
              <a:endParaRPr sz="120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329950" y="-329950"/>
            <a:ext cx="1015750" cy="101575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574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080"/>
                </a:lnSpc>
              </a:pPr>
              <a:endParaRPr sz="120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331847" y="5997847"/>
            <a:ext cx="1190104" cy="119010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574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080"/>
                </a:lnSpc>
              </a:pPr>
              <a:endParaRPr sz="1200"/>
            </a:p>
          </p:txBody>
        </p:sp>
      </p:grpSp>
      <p:sp>
        <p:nvSpPr>
          <p:cNvPr id="21" name="Rectangle 20"/>
          <p:cNvSpPr/>
          <p:nvPr/>
        </p:nvSpPr>
        <p:spPr>
          <a:xfrm>
            <a:off x="1828800" y="889000"/>
            <a:ext cx="84328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  <a:ea typeface="Lato"/>
                <a:cs typeface="Lato"/>
                <a:sym typeface="Lato"/>
              </a:rPr>
              <a:t>PROPOSED SOLUTION</a:t>
            </a:r>
          </a:p>
          <a:p>
            <a:r>
              <a:rPr lang="en-US" dirty="0"/>
              <a:t>An AI-powered platform that:</a:t>
            </a:r>
          </a:p>
          <a:p>
            <a:r>
              <a:rPr lang="en-US" dirty="0"/>
              <a:t>Registers children’s details once</a:t>
            </a:r>
          </a:p>
          <a:p>
            <a:r>
              <a:rPr lang="en-US" dirty="0"/>
              <a:t>Automatically generates vaccine timelines</a:t>
            </a:r>
          </a:p>
          <a:p>
            <a:r>
              <a:rPr lang="en-US" dirty="0"/>
              <a:t>Sends reminders via SMS/WhatsApp</a:t>
            </a:r>
          </a:p>
          <a:p>
            <a:r>
              <a:rPr lang="en-US" dirty="0"/>
              <a:t>Includes a conversational AI assistant</a:t>
            </a:r>
          </a:p>
          <a:p>
            <a:endParaRPr lang="en-US" dirty="0"/>
          </a:p>
          <a:p>
            <a:pPr lvl="0"/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43148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24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176</Words>
  <Application>Microsoft Office PowerPoint</Application>
  <PresentationFormat>Widescreen</PresentationFormat>
  <Paragraphs>44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Abstracted Dream</vt:lpstr>
      <vt:lpstr>Arial</vt:lpstr>
      <vt:lpstr>Arial Bold</vt:lpstr>
      <vt:lpstr>Calibri</vt:lpstr>
      <vt:lpstr>Calibri Light</vt:lpstr>
      <vt:lpstr>Dynapuff Condensed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3</cp:revision>
  <dcterms:created xsi:type="dcterms:W3CDTF">2025-11-27T05:07:10Z</dcterms:created>
  <dcterms:modified xsi:type="dcterms:W3CDTF">2025-11-27T05:18:15Z</dcterms:modified>
</cp:coreProperties>
</file>